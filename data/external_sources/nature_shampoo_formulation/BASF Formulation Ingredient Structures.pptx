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9" r:id="rId2"/>
    <p:sldId id="297" r:id="rId3"/>
    <p:sldId id="298" r:id="rId4"/>
    <p:sldId id="300" r:id="rId5"/>
    <p:sldId id="309" r:id="rId6"/>
    <p:sldId id="301" r:id="rId7"/>
    <p:sldId id="302" r:id="rId8"/>
    <p:sldId id="310" r:id="rId9"/>
    <p:sldId id="303" r:id="rId10"/>
    <p:sldId id="304" r:id="rId11"/>
    <p:sldId id="311" r:id="rId12"/>
    <p:sldId id="312" r:id="rId13"/>
    <p:sldId id="313" r:id="rId14"/>
    <p:sldId id="305" r:id="rId15"/>
    <p:sldId id="306" r:id="rId16"/>
    <p:sldId id="314" r:id="rId17"/>
    <p:sldId id="307" r:id="rId18"/>
    <p:sldId id="308" r:id="rId19"/>
    <p:sldId id="291" r:id="rId20"/>
    <p:sldId id="286" r:id="rId21"/>
    <p:sldId id="290" r:id="rId22"/>
    <p:sldId id="289" r:id="rId23"/>
    <p:sldId id="288" r:id="rId24"/>
    <p:sldId id="292" r:id="rId25"/>
    <p:sldId id="293" r:id="rId26"/>
    <p:sldId id="29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0"/>
    <p:restoredTop sz="96327"/>
  </p:normalViewPr>
  <p:slideViewPr>
    <p:cSldViewPr snapToGrid="0">
      <p:cViewPr varScale="1">
        <p:scale>
          <a:sx n="162" d="100"/>
          <a:sy n="162" d="100"/>
        </p:scale>
        <p:origin x="23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65C6-7B2B-AFA2-E041-1AF2B80C0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8611A-D06A-31B5-C45B-64445613C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FDD3-B175-CB6B-4615-8316ABEF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0C4FA-4C38-AFD7-BBB3-B6FA4870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9958D-8EB1-57DA-1C38-51CD79E3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750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2443-5D40-B73A-E6C0-200E4F2E6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19BD-E37C-CA08-C9E3-82B87B071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51A94-1850-73A1-B9B0-A7BEACD7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89FD5-928A-6D58-E2ED-698899C8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958D6-3C40-0A53-4CF9-0CEA86AA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15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B026-7158-44DA-4F4F-E7D844751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EB4DE-A694-98A0-C77D-7529C2B9D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566EA-48E6-01BA-675B-0016F6D3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71BBA-1792-95AB-AD59-D44F1F56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9414B-59EC-C4EA-9AA3-49B507F3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52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9ECA-BC72-8A2E-F2AF-F2D44AF8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A098-81B2-B815-BDA9-E2C1FC665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25C5E-39C8-4BF6-0D49-297FBC1C8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820E4-91F0-CD79-4B15-524924290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46958-A676-889A-110E-7B653FC6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BAE3D-89E6-7571-2FEF-559FE740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33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8992-0C12-9941-4003-30F3F590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E67F2-B920-9F99-37D8-3661507F0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746BE-DC22-1323-B74B-981A6EA27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729FB-BFD0-4AB5-1BB2-5159336009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74C6E-7621-A593-E51B-6D5366B43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973452-6929-9E8E-963C-C1B17576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914C9-EBEE-C39D-0AE2-7E21A8A4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6424B-55A0-63D4-F938-CDF9843A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37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F37A-86BC-0956-2323-0BAFB8CE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FA510-650B-8BEC-C0EA-68282274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81E0B-A240-4B4D-47F4-ACD1A16D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2349D-9277-6530-1D98-A3A60F9D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24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FBA17-8C30-14B2-4788-54353A84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0CFC7-94E1-7940-0448-E99E94CE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CA152-2E6F-72CC-E244-89A0358F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15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EA38-60C3-A4DB-E1B5-88C36AA1F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69C91-C671-A88A-E199-DE6C6B9EB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313E6-4034-92D6-AC86-456382496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58BB9-87DB-1327-070A-F1B56BD0F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06194-1499-A1AB-8FFC-2833C9DA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70653-160D-8102-6F04-03D23B72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83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756-EBB8-6855-ED36-D723F4B51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80381-2705-14AC-D244-0C44D1CA77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C83F1-0F10-FE38-A99F-2A7593745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FD8C2-3D6D-5203-2683-26E2BFBC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D0AD6-0F66-A2F8-AB63-C0B9728F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E8BE1-959C-C929-229F-0A3C3E8A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98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BB31-E5A6-10D2-0E61-C91924E8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DB0C0-2D48-78AF-B6AC-3F50BD340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88653-E270-0F52-EFE7-6A8DF7C6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6F5D-4246-45EE-6B56-1847BCA10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8EB65-1DD0-9287-4AE7-A831FEB4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1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BA3A1-153B-A3BB-E57A-0EF8E4E8A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44398-C88B-2A17-F073-C4A724CFC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4661B-D6B8-9CA8-0BB2-0CFBF8742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27266-452F-CDA7-18C3-367A1267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80EA-8261-087A-84BB-23BC77F1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87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20318-B971-A27B-8459-48A6A637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953D6-DA67-20BF-4605-125190E82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10A50-BB1C-0B0D-503A-6BD0AB69C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52BFC-1FB5-3341-BB97-14571EB7BAC1}" type="datetimeFigureOut">
              <a:rPr lang="en-US"/>
              <a:t>2/28/24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9F5CC-5B6C-F52B-7389-3659A3346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3A593-24FD-6DF8-C7F4-0796C55C5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902CB-E473-6749-9C68-6A4B81888F77}" type="slidenum">
              <a:r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89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7E71-9040-3A0E-D919-3761A33A1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3720"/>
            <a:ext cx="9144000" cy="2387600"/>
          </a:xfrm>
        </p:spPr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Ingredient Structures for Liquid Formulations Dataset</a:t>
            </a:r>
          </a:p>
        </p:txBody>
      </p:sp>
    </p:spTree>
    <p:extLst>
      <p:ext uri="{BB962C8B-B14F-4D97-AF65-F5344CB8AC3E}">
        <p14:creationId xmlns:p14="http://schemas.microsoft.com/office/powerpoint/2010/main" val="455316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6FF7-7547-77E9-1FEB-0735FE6D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Surfactants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88E4F-11EC-A691-5362-196EDDB74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Anionic</a:t>
            </a:r>
          </a:p>
        </p:txBody>
      </p:sp>
    </p:spTree>
    <p:extLst>
      <p:ext uri="{BB962C8B-B14F-4D97-AF65-F5344CB8AC3E}">
        <p14:creationId xmlns:p14="http://schemas.microsoft.com/office/powerpoint/2010/main" val="220255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35243-F79E-FE1A-BF47-9C930417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1. Texapon® SB 3 KC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4CC74-F83F-6C13-C822-90DFCB3A4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71750"/>
            <a:ext cx="8991600" cy="1714500"/>
          </a:xfrm>
          <a:prstGeom prst="snip2Diag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C263D1-7CB4-EF19-460B-955078198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102281"/>
              </p:ext>
            </p:extLst>
          </p:nvPr>
        </p:nvGraphicFramePr>
        <p:xfrm>
          <a:off x="2444750" y="4728952"/>
          <a:ext cx="7302500" cy="283845"/>
        </p:xfrm>
        <a:graphic>
          <a:graphicData uri="http://schemas.openxmlformats.org/drawingml/2006/table">
            <a:tbl>
              <a:tblPr/>
              <a:tblGrid>
                <a:gridCol w="7302500">
                  <a:extLst>
                    <a:ext uri="{9D8B030D-6E8A-4147-A177-3AD203B41FA5}">
                      <a16:colId xmlns:a16="http://schemas.microsoft.com/office/drawing/2014/main" val="203201584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CCCCCCCCCCCCOCCOCCOCCOC(=O)C(CC(=O)[O-])S(=O)(=O)[O-].[Na+].[Na+]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67741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76CD96-F37A-36C6-E003-E841F368723C}"/>
              </a:ext>
            </a:extLst>
          </p:cNvPr>
          <p:cNvSpPr txBox="1"/>
          <p:nvPr/>
        </p:nvSpPr>
        <p:spPr>
          <a:xfrm>
            <a:off x="872564" y="1759716"/>
            <a:ext cx="6009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Disodium Laureth Sulfosuccinate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1C7DE-2214-17BC-B0DA-72F5736C0967}"/>
              </a:ext>
            </a:extLst>
          </p:cNvPr>
          <p:cNvSpPr/>
          <p:nvPr/>
        </p:nvSpPr>
        <p:spPr>
          <a:xfrm>
            <a:off x="2319688" y="2704699"/>
            <a:ext cx="1684421" cy="3561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28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1211-112F-485C-BD2A-54B4064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2. Plantapon® ACG 50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27B64-BDF7-1A09-8D51-D6E9D607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2730825"/>
            <a:ext cx="4991100" cy="19304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027D00-B05F-9853-1D0D-7B0733670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300867"/>
              </p:ext>
            </p:extLst>
          </p:nvPr>
        </p:nvGraphicFramePr>
        <p:xfrm>
          <a:off x="3129969" y="5207528"/>
          <a:ext cx="5932061" cy="283845"/>
        </p:xfrm>
        <a:graphic>
          <a:graphicData uri="http://schemas.openxmlformats.org/drawingml/2006/table">
            <a:tbl>
              <a:tblPr/>
              <a:tblGrid>
                <a:gridCol w="5932061">
                  <a:extLst>
                    <a:ext uri="{9D8B030D-6E8A-4147-A177-3AD203B41FA5}">
                      <a16:colId xmlns:a16="http://schemas.microsoft.com/office/drawing/2014/main" val="71731031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CCCCCCCCCCCC(=O)NC(CCC(=O)[O-])C(=O)[O-].[Na+].[Na+]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61365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DF53A5-B327-F54B-54D0-CC141CA557A0}"/>
              </a:ext>
            </a:extLst>
          </p:cNvPr>
          <p:cNvSpPr txBox="1"/>
          <p:nvPr/>
        </p:nvSpPr>
        <p:spPr>
          <a:xfrm>
            <a:off x="838200" y="1894703"/>
            <a:ext cx="5393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Disodium Cocoyl Glutamate</a:t>
            </a:r>
          </a:p>
        </p:txBody>
      </p:sp>
    </p:spTree>
    <p:extLst>
      <p:ext uri="{BB962C8B-B14F-4D97-AF65-F5344CB8AC3E}">
        <p14:creationId xmlns:p14="http://schemas.microsoft.com/office/powerpoint/2010/main" val="297094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A43D-B62A-4C4D-36AF-F2D75289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3. Plantapon® LC7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33773-E34F-F195-82D8-70DFED7C4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450" y="2560766"/>
            <a:ext cx="4483100" cy="18288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6CBDC1-CAE3-F706-7B41-5B4174E64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85206"/>
              </p:ext>
            </p:extLst>
          </p:nvPr>
        </p:nvGraphicFramePr>
        <p:xfrm>
          <a:off x="2422740" y="4907279"/>
          <a:ext cx="7346520" cy="283845"/>
        </p:xfrm>
        <a:graphic>
          <a:graphicData uri="http://schemas.openxmlformats.org/drawingml/2006/table">
            <a:tbl>
              <a:tblPr/>
              <a:tblGrid>
                <a:gridCol w="7346520">
                  <a:extLst>
                    <a:ext uri="{9D8B030D-6E8A-4147-A177-3AD203B41FA5}">
                      <a16:colId xmlns:a16="http://schemas.microsoft.com/office/drawing/2014/main" val="394414203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OC(CC(O)(CC(O)=O)C(OCCOCCOCCOCCOCCOCCOCCOCCCCCCCCCCCC)=O)=O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00598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6771B9-7C15-34DF-CE8C-B17A118F091F}"/>
              </a:ext>
            </a:extLst>
          </p:cNvPr>
          <p:cNvSpPr txBox="1"/>
          <p:nvPr/>
        </p:nvSpPr>
        <p:spPr>
          <a:xfrm>
            <a:off x="838200" y="1835831"/>
            <a:ext cx="4048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Laureth-7 Citrate</a:t>
            </a:r>
          </a:p>
        </p:txBody>
      </p:sp>
    </p:spTree>
    <p:extLst>
      <p:ext uri="{BB962C8B-B14F-4D97-AF65-F5344CB8AC3E}">
        <p14:creationId xmlns:p14="http://schemas.microsoft.com/office/powerpoint/2010/main" val="1917343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6FF7-7547-77E9-1FEB-0735FE6D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Surfactants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88E4F-11EC-A691-5362-196EDDB74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Non-ionic</a:t>
            </a:r>
          </a:p>
        </p:txBody>
      </p:sp>
    </p:spTree>
    <p:extLst>
      <p:ext uri="{BB962C8B-B14F-4D97-AF65-F5344CB8AC3E}">
        <p14:creationId xmlns:p14="http://schemas.microsoft.com/office/powerpoint/2010/main" val="4145508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1211-112F-485C-BD2A-54B4064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4. Plantacare® 818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A6593-F2B2-54A4-7C5F-CE764BCB7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774950"/>
            <a:ext cx="6477000" cy="13081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84081B-F65A-7425-7537-D4C6E2795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5935"/>
              </p:ext>
            </p:extLst>
          </p:nvPr>
        </p:nvGraphicFramePr>
        <p:xfrm>
          <a:off x="3798887" y="4657325"/>
          <a:ext cx="4594225" cy="283845"/>
        </p:xfrm>
        <a:graphic>
          <a:graphicData uri="http://schemas.openxmlformats.org/drawingml/2006/table">
            <a:tbl>
              <a:tblPr/>
              <a:tblGrid>
                <a:gridCol w="4594225">
                  <a:extLst>
                    <a:ext uri="{9D8B030D-6E8A-4147-A177-3AD203B41FA5}">
                      <a16:colId xmlns:a16="http://schemas.microsoft.com/office/drawing/2014/main" val="38415996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CCCCCCCCCCCCCCOC1OC(CO)C(O)C(O)C1O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74122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6D73E9-4A6F-A2B8-3791-00F532C74AAC}"/>
              </a:ext>
            </a:extLst>
          </p:cNvPr>
          <p:cNvSpPr txBox="1"/>
          <p:nvPr/>
        </p:nvSpPr>
        <p:spPr>
          <a:xfrm>
            <a:off x="838200" y="1831343"/>
            <a:ext cx="3866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Coco-Glucoside</a:t>
            </a:r>
          </a:p>
        </p:txBody>
      </p:sp>
    </p:spTree>
    <p:extLst>
      <p:ext uri="{BB962C8B-B14F-4D97-AF65-F5344CB8AC3E}">
        <p14:creationId xmlns:p14="http://schemas.microsoft.com/office/powerpoint/2010/main" val="2704164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352EC-570B-4E7F-D1CB-95ADD22C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5. Plantacare® 2000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67C12-BFA3-C812-AADE-496B9E345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0" y="2495550"/>
            <a:ext cx="4826000" cy="18669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0C01C9-1F8A-6CBF-FFA8-4518A9284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51102"/>
              </p:ext>
            </p:extLst>
          </p:nvPr>
        </p:nvGraphicFramePr>
        <p:xfrm>
          <a:off x="3951287" y="4732021"/>
          <a:ext cx="4289425" cy="283845"/>
        </p:xfrm>
        <a:graphic>
          <a:graphicData uri="http://schemas.openxmlformats.org/drawingml/2006/table">
            <a:tbl>
              <a:tblPr/>
              <a:tblGrid>
                <a:gridCol w="4289425">
                  <a:extLst>
                    <a:ext uri="{9D8B030D-6E8A-4147-A177-3AD203B41FA5}">
                      <a16:colId xmlns:a16="http://schemas.microsoft.com/office/drawing/2014/main" val="54270877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CCCCCCCCCCOC1OC(CO)C(O)C(O)C1O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21996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36A455-3E81-FBD7-3046-33A6CB3DD9A3}"/>
              </a:ext>
            </a:extLst>
          </p:cNvPr>
          <p:cNvSpPr txBox="1"/>
          <p:nvPr/>
        </p:nvSpPr>
        <p:spPr>
          <a:xfrm>
            <a:off x="842683" y="1772549"/>
            <a:ext cx="393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Decyl-Glucoside</a:t>
            </a:r>
          </a:p>
        </p:txBody>
      </p:sp>
    </p:spTree>
    <p:extLst>
      <p:ext uri="{BB962C8B-B14F-4D97-AF65-F5344CB8AC3E}">
        <p14:creationId xmlns:p14="http://schemas.microsoft.com/office/powerpoint/2010/main" val="3459197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6FF7-7547-77E9-1FEB-0735FE6D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Surfactants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88E4F-11EC-A691-5362-196EDDB74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Amphoteric</a:t>
            </a:r>
          </a:p>
        </p:txBody>
      </p:sp>
    </p:spTree>
    <p:extLst>
      <p:ext uri="{BB962C8B-B14F-4D97-AF65-F5344CB8AC3E}">
        <p14:creationId xmlns:p14="http://schemas.microsoft.com/office/powerpoint/2010/main" val="1565447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1211-112F-485C-BD2A-54B4064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6. Dehyton® MC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6F28F-6401-24C7-3ECA-148240EF3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999" y="2686050"/>
            <a:ext cx="6350000" cy="14859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40592-6D11-10F4-1A87-4887B811F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117440"/>
              </p:ext>
            </p:extLst>
          </p:nvPr>
        </p:nvGraphicFramePr>
        <p:xfrm>
          <a:off x="3767517" y="4618901"/>
          <a:ext cx="4656965" cy="283845"/>
        </p:xfrm>
        <a:graphic>
          <a:graphicData uri="http://schemas.openxmlformats.org/drawingml/2006/table">
            <a:tbl>
              <a:tblPr/>
              <a:tblGrid>
                <a:gridCol w="4656965">
                  <a:extLst>
                    <a:ext uri="{9D8B030D-6E8A-4147-A177-3AD203B41FA5}">
                      <a16:colId xmlns:a16="http://schemas.microsoft.com/office/drawing/2014/main" val="79079569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CCCCCCCCCCCC(=O)NCCN(CCO)CC(=O)[O-].[Na+]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2245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C1494D4-8823-BA9C-8E1D-43C1170B7A70}"/>
              </a:ext>
            </a:extLst>
          </p:cNvPr>
          <p:cNvSpPr txBox="1"/>
          <p:nvPr/>
        </p:nvSpPr>
        <p:spPr>
          <a:xfrm>
            <a:off x="838200" y="1869767"/>
            <a:ext cx="5365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Sodium Cocoamphoacetate</a:t>
            </a:r>
          </a:p>
        </p:txBody>
      </p:sp>
    </p:spTree>
    <p:extLst>
      <p:ext uri="{BB962C8B-B14F-4D97-AF65-F5344CB8AC3E}">
        <p14:creationId xmlns:p14="http://schemas.microsoft.com/office/powerpoint/2010/main" val="317387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77DC-E118-DCE2-FDE9-4F652D3A6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7. Dehyton® PK 45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6D171-75B9-7454-041A-9CA9875B698B}"/>
              </a:ext>
            </a:extLst>
          </p:cNvPr>
          <p:cNvSpPr txBox="1"/>
          <p:nvPr/>
        </p:nvSpPr>
        <p:spPr>
          <a:xfrm>
            <a:off x="838200" y="1858396"/>
            <a:ext cx="4992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Cocamidopropyl Betaine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05FE4-E76F-A994-3311-6FEE791D9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599" y="2876550"/>
            <a:ext cx="6400800" cy="11049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AC1B46-F701-54E5-B057-DD1EFF762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849410"/>
              </p:ext>
            </p:extLst>
          </p:nvPr>
        </p:nvGraphicFramePr>
        <p:xfrm>
          <a:off x="3236911" y="4537939"/>
          <a:ext cx="5718175" cy="283845"/>
        </p:xfrm>
        <a:graphic>
          <a:graphicData uri="http://schemas.openxmlformats.org/drawingml/2006/table">
            <a:tbl>
              <a:tblPr/>
              <a:tblGrid>
                <a:gridCol w="5718175">
                  <a:extLst>
                    <a:ext uri="{9D8B030D-6E8A-4147-A177-3AD203B41FA5}">
                      <a16:colId xmlns:a16="http://schemas.microsoft.com/office/drawing/2014/main" val="50728197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CCCCCCCCCCCC(NCCC[N+](C)(C)CC([O-])=O)=O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7600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514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9014-B301-C08D-32ED-6F0A9C7B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8. Dehyton® 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7FECA-B5DC-3BD5-631E-0D22F290AD8F}"/>
              </a:ext>
            </a:extLst>
          </p:cNvPr>
          <p:cNvSpPr txBox="1"/>
          <p:nvPr/>
        </p:nvSpPr>
        <p:spPr>
          <a:xfrm>
            <a:off x="838200" y="1690688"/>
            <a:ext cx="5454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Sodium Lauroamphoacetate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19854-5F7A-CB9E-0CA4-5E6420E2C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2397924"/>
            <a:ext cx="6134100" cy="1397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47F345-0ED4-BF9A-74B8-3A150E91F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277844"/>
              </p:ext>
            </p:extLst>
          </p:nvPr>
        </p:nvGraphicFramePr>
        <p:xfrm>
          <a:off x="3549650" y="4502160"/>
          <a:ext cx="5092700" cy="283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92700">
                  <a:extLst>
                    <a:ext uri="{9D8B030D-6E8A-4147-A177-3AD203B41FA5}">
                      <a16:colId xmlns:a16="http://schemas.microsoft.com/office/drawing/2014/main" val="346267243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CCCCCCCCCCCC(NCCN(CC([O-])=O)CCO)=O.[Na+]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831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76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FDF2D-02FB-2EF6-B809-84781510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9. Dehyton® AB 30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227B51-0691-A9EF-A2F5-D029BA5EE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146181"/>
              </p:ext>
            </p:extLst>
          </p:nvPr>
        </p:nvGraphicFramePr>
        <p:xfrm>
          <a:off x="3308350" y="4537465"/>
          <a:ext cx="5575299" cy="283845"/>
        </p:xfrm>
        <a:graphic>
          <a:graphicData uri="http://schemas.openxmlformats.org/drawingml/2006/table">
            <a:tbl>
              <a:tblPr/>
              <a:tblGrid>
                <a:gridCol w="5575299">
                  <a:extLst>
                    <a:ext uri="{9D8B030D-6E8A-4147-A177-3AD203B41FA5}">
                      <a16:colId xmlns:a16="http://schemas.microsoft.com/office/drawing/2014/main" val="20501522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CCCCCCCCCCCC[N+](C)(C)CC([O-])=O.[Na+]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665015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B98B331-0AAC-9D81-378C-70DB75EB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241" y="2953059"/>
            <a:ext cx="5893515" cy="930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7F7CE4-1F45-AD48-A312-0F065C63C2D8}"/>
              </a:ext>
            </a:extLst>
          </p:cNvPr>
          <p:cNvSpPr txBox="1"/>
          <p:nvPr/>
        </p:nvSpPr>
        <p:spPr>
          <a:xfrm>
            <a:off x="838200" y="1837544"/>
            <a:ext cx="3595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Coco-Betaine</a:t>
            </a:r>
          </a:p>
        </p:txBody>
      </p:sp>
    </p:spTree>
    <p:extLst>
      <p:ext uri="{BB962C8B-B14F-4D97-AF65-F5344CB8AC3E}">
        <p14:creationId xmlns:p14="http://schemas.microsoft.com/office/powerpoint/2010/main" val="2156696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6FF7-7547-77E9-1FEB-0735FE6D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Surfactants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88E4F-11EC-A691-5362-196EDDB74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Amino-acid based</a:t>
            </a:r>
          </a:p>
        </p:txBody>
      </p:sp>
    </p:spTree>
    <p:extLst>
      <p:ext uri="{BB962C8B-B14F-4D97-AF65-F5344CB8AC3E}">
        <p14:creationId xmlns:p14="http://schemas.microsoft.com/office/powerpoint/2010/main" val="197581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1211-112F-485C-BD2A-54B4064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10. Plantapon® Amino SCG-L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94CB0-5DE9-F954-B321-EF80071DFDA6}"/>
              </a:ext>
            </a:extLst>
          </p:cNvPr>
          <p:cNvSpPr txBox="1"/>
          <p:nvPr/>
        </p:nvSpPr>
        <p:spPr>
          <a:xfrm>
            <a:off x="838200" y="1690688"/>
            <a:ext cx="5154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Sodium Cocoyl Glutamate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B58E9F-717B-77C5-0C68-7FE427316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01726"/>
              </p:ext>
            </p:extLst>
          </p:nvPr>
        </p:nvGraphicFramePr>
        <p:xfrm>
          <a:off x="2710638" y="5092178"/>
          <a:ext cx="6552552" cy="283845"/>
        </p:xfrm>
        <a:graphic>
          <a:graphicData uri="http://schemas.openxmlformats.org/drawingml/2006/table">
            <a:tbl>
              <a:tblPr/>
              <a:tblGrid>
                <a:gridCol w="6552552">
                  <a:extLst>
                    <a:ext uri="{9D8B030D-6E8A-4147-A177-3AD203B41FA5}">
                      <a16:colId xmlns:a16="http://schemas.microsoft.com/office/drawing/2014/main" val="28496454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[O-]C(CCC(NC(CCCCCCCCCCCCCCC)=O)C([O-])=O)=O.[Na+].[Na+]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882823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60E7E5C-19FD-76E1-0820-EEDE8F8A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064" y="2590800"/>
            <a:ext cx="6743700" cy="1676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FF895E-F5B7-8CA9-D42E-D89EFCEA12F8}"/>
              </a:ext>
            </a:extLst>
          </p:cNvPr>
          <p:cNvSpPr/>
          <p:nvPr/>
        </p:nvSpPr>
        <p:spPr>
          <a:xfrm>
            <a:off x="5255394" y="2521819"/>
            <a:ext cx="1463040" cy="673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467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1115-13C7-3DC8-B424-2AA7EE10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11. Plantapon® Amino KG-L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38-D2F9-37C4-2A49-429941488DCA}"/>
              </a:ext>
            </a:extLst>
          </p:cNvPr>
          <p:cNvSpPr txBox="1"/>
          <p:nvPr/>
        </p:nvSpPr>
        <p:spPr>
          <a:xfrm>
            <a:off x="838200" y="1836233"/>
            <a:ext cx="533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Potassium Cocoyl Glycinate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D3A1F-D02B-5320-8492-EBC7105EB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805" y="2845656"/>
            <a:ext cx="5766389" cy="116668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7984D6-0CE2-9AE9-FC0D-58D90D07A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925829"/>
              </p:ext>
            </p:extLst>
          </p:nvPr>
        </p:nvGraphicFramePr>
        <p:xfrm>
          <a:off x="3549650" y="4560102"/>
          <a:ext cx="5092700" cy="283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92700">
                  <a:extLst>
                    <a:ext uri="{9D8B030D-6E8A-4147-A177-3AD203B41FA5}">
                      <a16:colId xmlns:a16="http://schemas.microsoft.com/office/drawing/2014/main" val="188039304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CCCCCCCCCCCC(NCC([O-])=O)=O.[K+]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48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84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6FF7-7547-77E9-1FEB-0735FE6D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Surfactants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88E4F-11EC-A691-5362-196EDDB74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Cationic</a:t>
            </a:r>
          </a:p>
        </p:txBody>
      </p:sp>
    </p:spTree>
    <p:extLst>
      <p:ext uri="{BB962C8B-B14F-4D97-AF65-F5344CB8AC3E}">
        <p14:creationId xmlns:p14="http://schemas.microsoft.com/office/powerpoint/2010/main" val="1296902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1211-112F-485C-BD2A-54B4064C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12. Dehyquart® A-CA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29E762A-995A-D593-8C8C-5D7E821BF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426019"/>
              </p:ext>
            </p:extLst>
          </p:nvPr>
        </p:nvGraphicFramePr>
        <p:xfrm>
          <a:off x="2654817" y="2951058"/>
          <a:ext cx="6882366" cy="95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DLDrawObject Class" r:id="rId2" imgW="5829156" imgH="809525" progId="MDLDrawOLE.MDLDrawObject.1">
                  <p:embed/>
                </p:oleObj>
              </mc:Choice>
              <mc:Fallback>
                <p:oleObj name="MDLDrawObject Class" r:id="rId2" imgW="5829156" imgH="809525" progId="MDLDrawOLE.MDLDrawObject.1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5652196-5400-4834-8C33-4C907F3DA8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54817" y="2951058"/>
                        <a:ext cx="6882366" cy="955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482427-DFCE-325E-9227-5F50BE924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013240"/>
              </p:ext>
            </p:extLst>
          </p:nvPr>
        </p:nvGraphicFramePr>
        <p:xfrm>
          <a:off x="3394075" y="4347840"/>
          <a:ext cx="5403850" cy="283845"/>
        </p:xfrm>
        <a:graphic>
          <a:graphicData uri="http://schemas.openxmlformats.org/drawingml/2006/table">
            <a:tbl>
              <a:tblPr/>
              <a:tblGrid>
                <a:gridCol w="5403850">
                  <a:extLst>
                    <a:ext uri="{9D8B030D-6E8A-4147-A177-3AD203B41FA5}">
                      <a16:colId xmlns:a16="http://schemas.microsoft.com/office/drawing/2014/main" val="301142097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SG" sz="1800" u="none" strike="noStrike" dirty="0">
                          <a:effectLst/>
                        </a:rPr>
                        <a:t>CCCCCCCCCCCCCCCC[N+](C)(C)C.[Cl-]</a:t>
                      </a:r>
                      <a:endParaRPr lang="en-SG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14996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BDC4F6-382A-5C2F-4CC6-F1518793205F}"/>
              </a:ext>
            </a:extLst>
          </p:cNvPr>
          <p:cNvSpPr txBox="1"/>
          <p:nvPr/>
        </p:nvSpPr>
        <p:spPr>
          <a:xfrm>
            <a:off x="838200" y="1690688"/>
            <a:ext cx="6046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4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Potassium Cetrimonium Chloride</a:t>
            </a:r>
          </a:p>
        </p:txBody>
      </p:sp>
    </p:spTree>
    <p:extLst>
      <p:ext uri="{BB962C8B-B14F-4D97-AF65-F5344CB8AC3E}">
        <p14:creationId xmlns:p14="http://schemas.microsoft.com/office/powerpoint/2010/main" val="833732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86BB-E949-1893-8A84-5B4819D8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" panose="020F0502020204030204" pitchFamily="34" charset="0"/>
              </a:rPr>
              <a:t>Conditioning Polymers</a:t>
            </a:r>
          </a:p>
        </p:txBody>
      </p:sp>
    </p:spTree>
    <p:extLst>
      <p:ext uri="{BB962C8B-B14F-4D97-AF65-F5344CB8AC3E}">
        <p14:creationId xmlns:p14="http://schemas.microsoft.com/office/powerpoint/2010/main" val="509216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D838-0313-EE48-A621-9B245703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1. Luviquat® Excellence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D42D8C-A429-194A-A8AB-4C553D6CC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687" y="3283117"/>
            <a:ext cx="3172626" cy="2106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D0FA1-4CE8-4281-97DB-4D9B2C618AC7}"/>
              </a:ext>
            </a:extLst>
          </p:cNvPr>
          <p:cNvSpPr txBox="1"/>
          <p:nvPr/>
        </p:nvSpPr>
        <p:spPr>
          <a:xfrm>
            <a:off x="838200" y="1825183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Polyquaternium-16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Chemical Description: Random c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opolymers of vinylpyrrolidone (VP) and quaternized vinylimidazole (QVI) with a range of charge densities, in aqueous solution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MW approx. 40000 g/mol</a:t>
            </a:r>
          </a:p>
        </p:txBody>
      </p:sp>
    </p:spTree>
    <p:extLst>
      <p:ext uri="{BB962C8B-B14F-4D97-AF65-F5344CB8AC3E}">
        <p14:creationId xmlns:p14="http://schemas.microsoft.com/office/powerpoint/2010/main" val="1833852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D838-0313-EE48-A621-9B245703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2. Dehyquart® CC6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DCD31-E63B-F34F-BD2C-E4C4D22A6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365" y="2949757"/>
            <a:ext cx="1822699" cy="19721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EF3350-C97D-4D63-96A4-5452CAEDD2B3}"/>
              </a:ext>
            </a:extLst>
          </p:cNvPr>
          <p:cNvSpPr txBox="1"/>
          <p:nvPr/>
        </p:nvSpPr>
        <p:spPr>
          <a:xfrm>
            <a:off x="838200" y="1690688"/>
            <a:ext cx="1100442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Polyquaternium-6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Chemical Description: 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Cationic aqueous solution of a diallyl dimethyl ammonium chloride homopolymer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MW: Unknown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1800" b="0" i="0" u="none" strike="noStrike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898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D838-0313-EE48-A621-9B245703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3. Dehyquart® CC7 BZ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DAB6B-565C-4B98-94BB-081C26494D5D}"/>
              </a:ext>
            </a:extLst>
          </p:cNvPr>
          <p:cNvSpPr txBox="1"/>
          <p:nvPr/>
        </p:nvSpPr>
        <p:spPr>
          <a:xfrm>
            <a:off x="838200" y="1613903"/>
            <a:ext cx="110728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Polyquaternium-7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Chemical Description: 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Aqueous Solution of a cationic Diallyl Dimethyl Ammonium Chloride/Acrylamide random copolymer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MW: approx. 500,000 g/mol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FED3CEF-5359-DCCD-D92D-84D2CDF0BF85}"/>
              </a:ext>
            </a:extLst>
          </p:cNvPr>
          <p:cNvGrpSpPr/>
          <p:nvPr/>
        </p:nvGrpSpPr>
        <p:grpSpPr>
          <a:xfrm>
            <a:off x="4572883" y="3230217"/>
            <a:ext cx="2591242" cy="2216426"/>
            <a:chOff x="5440089" y="3357549"/>
            <a:chExt cx="2235200" cy="19699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47C06DC-796E-1C43-B308-C05379163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0089" y="3357549"/>
              <a:ext cx="2235200" cy="16637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FDD0E27-0945-A245-6014-C18D40E47AFE}"/>
                </a:ext>
              </a:extLst>
            </p:cNvPr>
            <p:cNvSpPr txBox="1"/>
            <p:nvPr/>
          </p:nvSpPr>
          <p:spPr>
            <a:xfrm>
              <a:off x="6187953" y="5050456"/>
              <a:ext cx="612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latin typeface="Calibri" panose="020F0502020204030204" pitchFamily="34" charset="0"/>
                  <a:cs typeface="Calibri" panose="020F0502020204030204" pitchFamily="34" charset="0"/>
                </a:rPr>
                <a:t>46%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D6A8A1-6053-545B-0BC8-5A5C95D621FB}"/>
                </a:ext>
              </a:extLst>
            </p:cNvPr>
            <p:cNvSpPr txBox="1"/>
            <p:nvPr/>
          </p:nvSpPr>
          <p:spPr>
            <a:xfrm>
              <a:off x="7063038" y="4604532"/>
              <a:ext cx="612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latin typeface="Calibri" panose="020F0502020204030204" pitchFamily="34" charset="0"/>
                  <a:cs typeface="Calibri" panose="020F0502020204030204" pitchFamily="34" charset="0"/>
                </a:rPr>
                <a:t>54%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7376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D838-0313-EE48-A621-9B245703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4. Salcare® Super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95C12-480E-AC62-942E-39D4A992F12D}"/>
              </a:ext>
            </a:extLst>
          </p:cNvPr>
          <p:cNvSpPr txBox="1"/>
          <p:nvPr/>
        </p:nvSpPr>
        <p:spPr>
          <a:xfrm>
            <a:off x="838201" y="1690688"/>
            <a:ext cx="109142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INCI name(s): 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Polyquaternium-7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Chemical Description: Random </a:t>
            </a:r>
            <a:r>
              <a:rPr lang="en-SG" sz="20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copolymer of Acrylamide and Diallyl Dimethyl Ammonium Chloride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MW: 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100,000 – 200,000 g/mol</a:t>
            </a:r>
            <a:endParaRPr lang="en-US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2000" b="0" i="0" u="none" strike="noStrike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11F5C0-00E0-6CEF-A745-FD3D78AE6079}"/>
              </a:ext>
            </a:extLst>
          </p:cNvPr>
          <p:cNvGrpSpPr/>
          <p:nvPr/>
        </p:nvGrpSpPr>
        <p:grpSpPr>
          <a:xfrm>
            <a:off x="4413857" y="3126670"/>
            <a:ext cx="2607144" cy="2272265"/>
            <a:chOff x="4978400" y="2336166"/>
            <a:chExt cx="2235200" cy="19406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7777DA-B478-E64F-814F-7DF9B0226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78400" y="2336166"/>
              <a:ext cx="2235200" cy="1663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60BD003-524B-9096-98E6-7FD937FD5E55}"/>
                </a:ext>
              </a:extLst>
            </p:cNvPr>
            <p:cNvSpPr txBox="1"/>
            <p:nvPr/>
          </p:nvSpPr>
          <p:spPr>
            <a:xfrm>
              <a:off x="5694459" y="3999866"/>
              <a:ext cx="612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latin typeface="Calibri" panose="020F0502020204030204" pitchFamily="34" charset="0"/>
                  <a:cs typeface="Calibri" panose="020F0502020204030204" pitchFamily="34" charset="0"/>
                </a:rPr>
                <a:t>25%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C80D28-C76D-5C05-D82F-C57AB2A8FAA7}"/>
                </a:ext>
              </a:extLst>
            </p:cNvPr>
            <p:cNvSpPr txBox="1"/>
            <p:nvPr/>
          </p:nvSpPr>
          <p:spPr>
            <a:xfrm>
              <a:off x="6601349" y="3561400"/>
              <a:ext cx="612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latin typeface="Calibri" panose="020F0502020204030204" pitchFamily="34" charset="0"/>
                  <a:cs typeface="Calibri" panose="020F0502020204030204" pitchFamily="34" charset="0"/>
                </a:rPr>
                <a:t>75%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0371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B7FA-C6D5-8A15-99B9-961619AD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Thickeners</a:t>
            </a:r>
          </a:p>
        </p:txBody>
      </p:sp>
    </p:spTree>
    <p:extLst>
      <p:ext uri="{BB962C8B-B14F-4D97-AF65-F5344CB8AC3E}">
        <p14:creationId xmlns:p14="http://schemas.microsoft.com/office/powerpoint/2010/main" val="1395169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D838-0313-EE48-A621-9B245703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1. Arlypon® TT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8CFA5-6A55-B04C-9753-E59F90433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" y="2609128"/>
            <a:ext cx="8978900" cy="3314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01624D-A59C-1B48-95A9-ED345E491CC3}"/>
              </a:ext>
            </a:extLst>
          </p:cNvPr>
          <p:cNvSpPr txBox="1"/>
          <p:nvPr/>
        </p:nvSpPr>
        <p:spPr>
          <a:xfrm>
            <a:off x="838200" y="1690688"/>
            <a:ext cx="106275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INCI: PEG/PPG-120/10 Trimethylolpropane Trioeate (40-50%) (and) Laureth-2 (40-50%) 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Since a-f is almost fixed, the MW can be calculated as 8295.</a:t>
            </a: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791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D838-0313-EE48-A621-9B245703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" panose="020F0502020204030204" pitchFamily="34" charset="0"/>
              </a:rPr>
              <a:t>2. Arlypon® 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BECF2-7521-724C-9524-463C3F5D476B}"/>
              </a:ext>
            </a:extLst>
          </p:cNvPr>
          <p:cNvSpPr txBox="1"/>
          <p:nvPr/>
        </p:nvSpPr>
        <p:spPr>
          <a:xfrm>
            <a:off x="1692965" y="4111694"/>
            <a:ext cx="8806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CCCCCCCCCCCCCCOCCOCCO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D7954-FF74-43EB-B401-EB2DB9496C79}"/>
              </a:ext>
            </a:extLst>
          </p:cNvPr>
          <p:cNvSpPr txBox="1"/>
          <p:nvPr/>
        </p:nvSpPr>
        <p:spPr>
          <a:xfrm>
            <a:off x="838200" y="1669088"/>
            <a:ext cx="23984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INCI name: </a:t>
            </a:r>
            <a:r>
              <a:rPr lang="en-US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Laureth-2</a:t>
            </a:r>
          </a:p>
          <a:p>
            <a:pPr algn="l"/>
            <a:r>
              <a:rPr lang="pt-BR" sz="2000" b="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MW 302 g/mol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D769B-F1D1-6D63-073B-18164C818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50" y="3251200"/>
            <a:ext cx="6794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6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</TotalTime>
  <Words>576</Words>
  <Application>Microsoft Macintosh PowerPoint</Application>
  <PresentationFormat>Widescreen</PresentationFormat>
  <Paragraphs>76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Helvetica Neue</vt:lpstr>
      <vt:lpstr>Office Theme</vt:lpstr>
      <vt:lpstr>MDLDrawObject Class</vt:lpstr>
      <vt:lpstr>Ingredient Structures for Liquid Formulations Dataset</vt:lpstr>
      <vt:lpstr>Surfactants</vt:lpstr>
      <vt:lpstr>1. Texapon® SB 3 KC</vt:lpstr>
      <vt:lpstr>2. Plantapon® ACG 50 </vt:lpstr>
      <vt:lpstr>3. Plantapon® LC7</vt:lpstr>
      <vt:lpstr>Surfactants</vt:lpstr>
      <vt:lpstr>4. Plantacare® 818</vt:lpstr>
      <vt:lpstr>5. Plantacare® 2000</vt:lpstr>
      <vt:lpstr>Surfactants</vt:lpstr>
      <vt:lpstr>6. Dehyton® MC</vt:lpstr>
      <vt:lpstr>7. Dehyton® PK 45 </vt:lpstr>
      <vt:lpstr>8. Dehyton® ML</vt:lpstr>
      <vt:lpstr>9. Dehyton® AB 30</vt:lpstr>
      <vt:lpstr>Surfactants</vt:lpstr>
      <vt:lpstr>10. Plantapon® Amino SCG-L</vt:lpstr>
      <vt:lpstr>11. Plantapon® Amino KG-L</vt:lpstr>
      <vt:lpstr>Surfactants</vt:lpstr>
      <vt:lpstr>12. Dehyquart® A-CA</vt:lpstr>
      <vt:lpstr>Conditioning Polymers</vt:lpstr>
      <vt:lpstr>1. Luviquat® Excellence</vt:lpstr>
      <vt:lpstr>2. Dehyquart® CC6</vt:lpstr>
      <vt:lpstr>3. Dehyquart® CC7 BZ</vt:lpstr>
      <vt:lpstr>4. Salcare® Super 7</vt:lpstr>
      <vt:lpstr>Thickeners</vt:lpstr>
      <vt:lpstr>1. Arlypon® TT</vt:lpstr>
      <vt:lpstr>2. Arlypon® 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Conditioing Polymers</dc:title>
  <dc:creator>Aniket Chitre</dc:creator>
  <cp:lastModifiedBy>Aniket Chitre</cp:lastModifiedBy>
  <cp:revision>17</cp:revision>
  <dcterms:created xsi:type="dcterms:W3CDTF">2023-02-06T09:25:49Z</dcterms:created>
  <dcterms:modified xsi:type="dcterms:W3CDTF">2024-02-29T11:32:55Z</dcterms:modified>
</cp:coreProperties>
</file>